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57" r:id="rId4"/>
    <p:sldId id="258" r:id="rId5"/>
    <p:sldId id="260" r:id="rId6"/>
    <p:sldId id="261" r:id="rId7"/>
    <p:sldId id="262" r:id="rId8"/>
    <p:sldId id="263" r:id="rId9"/>
    <p:sldId id="259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4.png"/><Relationship Id="rId7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040" y="2149822"/>
            <a:ext cx="1927919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4388" y="2511772"/>
            <a:ext cx="5783222" cy="70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sz="4800" b="1" i="0" u="none">
                <a:solidFill>
                  <a:srgbClr val="FFFFFF"/>
                </a:solidFill>
                <a:latin typeface="Space Grotesk"/>
              </a:rPr>
              <a:t>Basics of </a:t>
            </a:r>
            <a:r>
              <a:rPr sz="4800" b="1" i="0" u="none">
                <a:solidFill>
                  <a:srgbClr val="00ED64"/>
                </a:solidFill>
                <a:latin typeface="Space Grotesk"/>
              </a:rPr>
              <a:t>MongoDB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0750" y="3403252"/>
            <a:ext cx="78105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A clear, hands-on introduction to modern NoSQL databases, JSON document modeling, and essential query commands for new developers.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8487" y="4374802"/>
            <a:ext cx="2105025" cy="3333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862" y="4374802"/>
            <a:ext cx="1762125" cy="3333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2337" y="4374802"/>
            <a:ext cx="1781175" cy="3333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0470" y="4479577"/>
            <a:ext cx="15240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8845" y="4479577"/>
            <a:ext cx="114300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3816" y="4479577"/>
            <a:ext cx="1524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709439"/>
            <a:ext cx="5305425" cy="41153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709439"/>
            <a:ext cx="5305425" cy="41153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8329" y="1928514"/>
            <a:ext cx="4734497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0ED64"/>
                </a:solidFill>
                <a:latin typeface="Space Grotesk"/>
              </a:rPr>
              <a:t>Frontend Local Storage (Web)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2271414"/>
            <a:ext cx="4791075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400" b="0" i="0" u="none">
                <a:solidFill>
                  <a:srgbClr val="CBD5E1"/>
                </a:solidFill>
                <a:latin typeface="Inter"/>
              </a:rPr>
              <a:t>Native browser storage APIs for temporary or device-local state.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7604" y="1928514"/>
            <a:ext cx="47545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0ED64"/>
                </a:solidFill>
                <a:latin typeface="Space Grotesk"/>
              </a:rPr>
              <a:t>Backend Database (MongoDB)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2271414"/>
            <a:ext cx="4791075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400" b="0" i="0" u="none">
                <a:solidFill>
                  <a:srgbClr val="CBD5E1"/>
                </a:solidFill>
                <a:latin typeface="Inter"/>
              </a:rPr>
              <a:t>Centralized, persistent database engine powering entire web systems.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1957089"/>
            <a:ext cx="186779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6800" y="2592883"/>
            <a:ext cx="4600575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400" b="1" i="0" u="none">
                <a:solidFill>
                  <a:srgbClr val="94A3B8"/>
                </a:solidFill>
                <a:latin typeface="Inter"/>
              </a:rPr>
              <a:t>localStorage:</a:t>
            </a:r>
            <a:r>
              <a:rPr sz="1400" b="0" i="0" u="none">
                <a:solidFill>
                  <a:srgbClr val="94A3B8"/>
                </a:solidFill>
                <a:latin typeface="Inter"/>
              </a:rPr>
              <a:t> Stores string key-value pairs persistently (~5MB capacity) until cleared.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041749"/>
            <a:ext cx="4600575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400" b="1" i="0" u="none">
                <a:solidFill>
                  <a:srgbClr val="94A3B8"/>
                </a:solidFill>
                <a:latin typeface="Inter"/>
              </a:rPr>
              <a:t>sessionStorage:</a:t>
            </a:r>
            <a:r>
              <a:rPr sz="1400" b="0" i="0" u="none">
                <a:solidFill>
                  <a:srgbClr val="94A3B8"/>
                </a:solidFill>
                <a:latin typeface="Inter"/>
              </a:rPr>
              <a:t> Volatile storage that automatically purges when the browser tab closes.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3490614"/>
            <a:ext cx="4600575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400" b="1" i="0" u="none" dirty="0">
                <a:solidFill>
                  <a:srgbClr val="94A3B8"/>
                </a:solidFill>
                <a:latin typeface="Inter"/>
              </a:rPr>
              <a:t>Ideal Uses:</a:t>
            </a:r>
            <a:r>
              <a:rPr sz="1400" b="0" i="0" u="none" dirty="0">
                <a:solidFill>
                  <a:srgbClr val="94A3B8"/>
                </a:solidFill>
                <a:latin typeface="Inter"/>
              </a:rPr>
              <a:t> UI themes (Dark/Light mode), JWT auth tokens, user draft inputs.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3939480"/>
            <a:ext cx="4600575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400" b="1" i="0" u="none">
                <a:solidFill>
                  <a:srgbClr val="94A3B8"/>
                </a:solidFill>
                <a:latin typeface="Inter"/>
              </a:rPr>
              <a:t>Limits:</a:t>
            </a:r>
            <a:r>
              <a:rPr sz="1400" b="0" i="0" u="none">
                <a:solidFill>
                  <a:srgbClr val="94A3B8"/>
                </a:solidFill>
                <a:latin typeface="Inter"/>
              </a:rPr>
              <a:t> Bound to a single browser device; no server-wide syncing or complex querying.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1957089"/>
            <a:ext cx="167729" cy="190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715125" y="2661707"/>
            <a:ext cx="4600575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400" b="1" i="0" u="none" dirty="0">
                <a:solidFill>
                  <a:srgbClr val="94A3B8"/>
                </a:solidFill>
                <a:latin typeface="Inter"/>
              </a:rPr>
              <a:t>Permanent Persistence:</a:t>
            </a:r>
            <a:r>
              <a:rPr sz="1400" b="0" i="0" u="none" dirty="0">
                <a:solidFill>
                  <a:srgbClr val="94A3B8"/>
                </a:solidFill>
                <a:latin typeface="Inter"/>
              </a:rPr>
              <a:t> Saves records directly to server disk; unaffected by browser refreshes.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5125" y="3081077"/>
            <a:ext cx="4600575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400" b="1" i="0" u="none" dirty="0">
                <a:solidFill>
                  <a:srgbClr val="94A3B8"/>
                </a:solidFill>
                <a:latin typeface="Inter"/>
              </a:rPr>
              <a:t>Universal Access:</a:t>
            </a:r>
            <a:r>
              <a:rPr sz="1400" b="0" i="0" u="none" dirty="0">
                <a:solidFill>
                  <a:srgbClr val="94A3B8"/>
                </a:solidFill>
                <a:latin typeface="Inter"/>
              </a:rPr>
              <a:t> Accessible across multiple devices, platforms, and concurrent users.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15125" y="3520110"/>
            <a:ext cx="4600575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400" b="1" i="0" u="none" dirty="0">
                <a:solidFill>
                  <a:srgbClr val="94A3B8"/>
                </a:solidFill>
                <a:latin typeface="Inter"/>
              </a:rPr>
              <a:t>Massive Scale:</a:t>
            </a:r>
            <a:r>
              <a:rPr sz="1400" b="0" i="0" u="none" dirty="0">
                <a:solidFill>
                  <a:srgbClr val="94A3B8"/>
                </a:solidFill>
                <a:latin typeface="Inter"/>
              </a:rPr>
              <a:t> Manages millions of JSON-like BSON documents with indexing &amp; fast lookups.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15125" y="3968976"/>
            <a:ext cx="4600575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400" b="1" i="0" u="none" dirty="0">
                <a:solidFill>
                  <a:srgbClr val="94A3B8"/>
                </a:solidFill>
                <a:latin typeface="Inter"/>
              </a:rPr>
              <a:t>Security:</a:t>
            </a:r>
            <a:r>
              <a:rPr sz="1400" b="0" i="0" u="none" dirty="0">
                <a:solidFill>
                  <a:srgbClr val="94A3B8"/>
                </a:solidFill>
                <a:latin typeface="Inter"/>
              </a:rPr>
              <a:t> Safely hidden behind authentication APIs, role gates, and backend validations.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6300" y="2592883"/>
            <a:ext cx="133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400" b="1" i="0" u="none">
                <a:solidFill>
                  <a:srgbClr val="00ED64"/>
                </a:solidFill>
                <a:latin typeface="Inter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6300" y="3041749"/>
            <a:ext cx="133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400" b="1" i="0" u="none">
                <a:solidFill>
                  <a:srgbClr val="00ED64"/>
                </a:solidFill>
                <a:latin typeface="Inter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6300" y="3490614"/>
            <a:ext cx="133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400" b="1" i="0" u="none">
                <a:solidFill>
                  <a:srgbClr val="00ED64"/>
                </a:solidFill>
                <a:latin typeface="Inter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6300" y="3939480"/>
            <a:ext cx="133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400" b="1" i="0" u="none">
                <a:solidFill>
                  <a:srgbClr val="00ED64"/>
                </a:solidFill>
                <a:latin typeface="Inter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8144" y="2661707"/>
            <a:ext cx="133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400" b="1" i="0" u="none" dirty="0">
                <a:solidFill>
                  <a:srgbClr val="00ED64"/>
                </a:solidFill>
                <a:latin typeface="Inter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1999" y="3061773"/>
            <a:ext cx="133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400" b="1" i="0" u="none" dirty="0">
                <a:solidFill>
                  <a:srgbClr val="00ED64"/>
                </a:solidFill>
                <a:latin typeface="Inter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4625" y="3528614"/>
            <a:ext cx="133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400" b="1" i="0" u="none" dirty="0">
                <a:solidFill>
                  <a:srgbClr val="00ED64"/>
                </a:solidFill>
                <a:latin typeface="Inter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4625" y="4019383"/>
            <a:ext cx="133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400" b="1" i="0" u="none" dirty="0">
                <a:solidFill>
                  <a:srgbClr val="00ED64"/>
                </a:solidFill>
                <a:latin typeface="Inter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125" y="542925"/>
            <a:ext cx="1150143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Space Grotesk"/>
              </a:rPr>
              <a:t>Frontend Web Storage vs DB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124" y="952500"/>
            <a:ext cx="3785727" cy="45719"/>
          </a:xfrm>
          <a:prstGeom prst="roundRect">
            <a:avLst>
              <a:gd name="adj" fmla="val 33333"/>
            </a:avLst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5A6982F4-527E-566D-210F-87169018F6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944" y="4438053"/>
            <a:ext cx="4766505" cy="1136837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C2B6A118-1795-FF59-4CC1-F42C8DBFDF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7974" y="4417843"/>
            <a:ext cx="4531136" cy="1157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719262"/>
            <a:ext cx="5305425" cy="409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4875" y="1719262"/>
            <a:ext cx="50196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400" b="1" i="0" u="none">
                <a:solidFill>
                  <a:srgbClr val="CBD5E1"/>
                </a:solidFill>
                <a:latin typeface="Inter"/>
              </a:rPr>
              <a:t>The M in MERN:</a:t>
            </a:r>
            <a:r>
              <a:rPr sz="1400" b="0" i="0" u="none">
                <a:solidFill>
                  <a:srgbClr val="CBD5E1"/>
                </a:solidFill>
                <a:latin typeface="Inter"/>
              </a:rPr>
              <a:t> MongoDB represents the database tier in the full-stack MERN stack (</a:t>
            </a:r>
            <a:r>
              <a:rPr sz="1400" b="1" i="0" u="none">
                <a:solidFill>
                  <a:srgbClr val="CBD5E1"/>
                </a:solidFill>
                <a:latin typeface="Inter"/>
              </a:rPr>
              <a:t>M</a:t>
            </a:r>
            <a:r>
              <a:rPr sz="1400" b="0" i="0" u="none">
                <a:solidFill>
                  <a:srgbClr val="CBD5E1"/>
                </a:solidFill>
                <a:latin typeface="Inter"/>
              </a:rPr>
              <a:t>ongoDB, </a:t>
            </a:r>
            <a:r>
              <a:rPr sz="1400" b="1" i="0" u="none">
                <a:solidFill>
                  <a:srgbClr val="CBD5E1"/>
                </a:solidFill>
                <a:latin typeface="Inter"/>
              </a:rPr>
              <a:t>E</a:t>
            </a:r>
            <a:r>
              <a:rPr sz="1400" b="0" i="0" u="none">
                <a:solidFill>
                  <a:srgbClr val="CBD5E1"/>
                </a:solidFill>
                <a:latin typeface="Inter"/>
              </a:rPr>
              <a:t>xpress, </a:t>
            </a:r>
            <a:r>
              <a:rPr sz="1400" b="1" i="0" u="none">
                <a:solidFill>
                  <a:srgbClr val="CBD5E1"/>
                </a:solidFill>
                <a:latin typeface="Inter"/>
              </a:rPr>
              <a:t>R</a:t>
            </a:r>
            <a:r>
              <a:rPr sz="1400" b="0" i="0" u="none">
                <a:solidFill>
                  <a:srgbClr val="CBD5E1"/>
                </a:solidFill>
                <a:latin typeface="Inter"/>
              </a:rPr>
              <a:t>eact.js, </a:t>
            </a:r>
            <a:r>
              <a:rPr sz="1400" b="1" i="0" u="none">
                <a:solidFill>
                  <a:srgbClr val="CBD5E1"/>
                </a:solidFill>
                <a:latin typeface="Inter"/>
              </a:rPr>
              <a:t>N</a:t>
            </a:r>
            <a:r>
              <a:rPr sz="1400" b="0" i="0" u="none">
                <a:solidFill>
                  <a:srgbClr val="CBD5E1"/>
                </a:solidFill>
                <a:latin typeface="Inter"/>
              </a:rPr>
              <a:t>ode.js).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2300287"/>
            <a:ext cx="50196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400" b="1" i="0" u="none">
                <a:solidFill>
                  <a:srgbClr val="CBD5E1"/>
                </a:solidFill>
                <a:latin typeface="Inter"/>
              </a:rPr>
              <a:t>Permanent Storage:</a:t>
            </a:r>
            <a:r>
              <a:rPr sz="1400" b="0" i="0" u="none">
                <a:solidFill>
                  <a:srgbClr val="CBD5E1"/>
                </a:solidFill>
                <a:latin typeface="Inter"/>
              </a:rPr>
              <a:t> Databases persist application data safely on disk, retaining records even when web servers restart.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2881312"/>
            <a:ext cx="5019675" cy="8649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400" b="1" i="0" u="none" dirty="0">
                <a:solidFill>
                  <a:srgbClr val="CBD5E1"/>
                </a:solidFill>
                <a:latin typeface="Inter"/>
              </a:rPr>
              <a:t>Dynamic vs Defined:</a:t>
            </a:r>
            <a:r>
              <a:rPr sz="1400" b="0" i="0" u="none" dirty="0">
                <a:solidFill>
                  <a:srgbClr val="CBD5E1"/>
                </a:solidFill>
                <a:latin typeface="Inter"/>
              </a:rPr>
              <a:t> Traditional SQL requires strictly defined schemas, whereas NoSQL accommodates dynamic and evolving data structures.</a:t>
            </a:r>
            <a:r>
              <a:rPr lang="en-US" sz="1400" b="0" i="0" u="none" dirty="0">
                <a:solidFill>
                  <a:srgbClr val="CBD5E1"/>
                </a:solidFill>
                <a:latin typeface="Inter"/>
              </a:rPr>
              <a:t> </a:t>
            </a:r>
          </a:p>
          <a:p>
            <a:pPr algn="l">
              <a:lnSpc>
                <a:spcPts val="1687"/>
              </a:lnSpc>
            </a:pPr>
            <a:r>
              <a:rPr lang="en-US" sz="1400" dirty="0">
                <a:solidFill>
                  <a:srgbClr val="CBD5E1"/>
                </a:solidFill>
                <a:latin typeface="Inter"/>
              </a:rPr>
              <a:t>EX: FB</a:t>
            </a:r>
            <a:endParaRPr sz="1400" b="0" i="0" u="none" dirty="0">
              <a:solidFill>
                <a:srgbClr val="CBD5E1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4874" y="3898629"/>
            <a:ext cx="5019675" cy="64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400" b="1" i="0" u="none" dirty="0">
                <a:solidFill>
                  <a:srgbClr val="CBD5E1"/>
                </a:solidFill>
                <a:latin typeface="Inter"/>
              </a:rPr>
              <a:t>Drivers &amp; ODM:</a:t>
            </a:r>
            <a:r>
              <a:rPr sz="1400" b="0" i="0" u="none" dirty="0">
                <a:solidFill>
                  <a:srgbClr val="CBD5E1"/>
                </a:solidFill>
                <a:latin typeface="Inter"/>
              </a:rPr>
              <a:t> Mongoose serves as the official Object Data Modeling (ODM) driver for connecting Node.js with MongoDB collections.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1816662"/>
            <a:ext cx="180975" cy="1619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2476342"/>
            <a:ext cx="161925" cy="1619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3037706"/>
            <a:ext cx="142875" cy="1619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3982524"/>
            <a:ext cx="123825" cy="1619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9125" y="542925"/>
            <a:ext cx="1150143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Space Grotesk"/>
              </a:rPr>
              <a:t>MongoDB in the MERN Stack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125" y="952500"/>
            <a:ext cx="3913546" cy="45719"/>
          </a:xfrm>
          <a:prstGeom prst="roundRect">
            <a:avLst>
              <a:gd name="adj" fmla="val 33333"/>
            </a:avLst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5962FA0-0AFC-F1B4-7614-14F7CB75FB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2640" y="2279519"/>
            <a:ext cx="4694485" cy="301254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366962"/>
            <a:ext cx="5305425" cy="2800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366962"/>
            <a:ext cx="5305425" cy="2800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6755" y="2605087"/>
            <a:ext cx="4684648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75" b="1" i="0" u="none">
                <a:solidFill>
                  <a:srgbClr val="00ED64"/>
                </a:solidFill>
                <a:latin typeface="Space Grotesk"/>
              </a:rPr>
              <a:t>Relational Databases (SQL)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2976562"/>
            <a:ext cx="47529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300" b="0" i="0" u="none">
                <a:solidFill>
                  <a:srgbClr val="CBD5E1"/>
                </a:solidFill>
                <a:latin typeface="Inter"/>
              </a:rPr>
              <a:t>Designed for persistent storage with predetermined and strictly enforced schemas.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35080" y="2605087"/>
            <a:ext cx="4684648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75" b="1" i="0" u="none">
                <a:solidFill>
                  <a:srgbClr val="00ED64"/>
                </a:solidFill>
                <a:latin typeface="Space Grotesk"/>
              </a:rPr>
              <a:t>Non-Relational Databases (NoSQL)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43675" y="2976562"/>
            <a:ext cx="47529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300" b="0" i="0" u="none">
                <a:solidFill>
                  <a:srgbClr val="CBD5E1"/>
                </a:solidFill>
                <a:latin typeface="Inter"/>
              </a:rPr>
              <a:t>Built for agile workflows, fluid structures, and high throughput data streams.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2633662"/>
            <a:ext cx="196155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04900" y="3538537"/>
            <a:ext cx="45434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>
                <a:solidFill>
                  <a:srgbClr val="94A3B8"/>
                </a:solidFill>
                <a:latin typeface="Inter"/>
              </a:rPr>
              <a:t>Organized strictly into tables, rows, and predefined columns.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3833812"/>
            <a:ext cx="45434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>
                <a:solidFill>
                  <a:srgbClr val="94A3B8"/>
                </a:solidFill>
                <a:latin typeface="Inter"/>
              </a:rPr>
              <a:t>Ideal when data relationships and schema structures are fixed and defined upfront.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4329112"/>
            <a:ext cx="45434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>
                <a:solidFill>
                  <a:srgbClr val="94A3B8"/>
                </a:solidFill>
                <a:latin typeface="Inter"/>
              </a:rPr>
              <a:t>Requires schema migrations whenever adding or altering fields.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4624387"/>
            <a:ext cx="4543425" cy="197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>
                <a:solidFill>
                  <a:srgbClr val="94A3B8"/>
                </a:solidFill>
                <a:latin typeface="Inter"/>
              </a:rPr>
              <a:t>Popular Industry Examples: MySQL, PostgreSQL, Oracle.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675" y="2633662"/>
            <a:ext cx="196155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53225" y="3538537"/>
            <a:ext cx="4543425" cy="403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 dirty="0">
                <a:solidFill>
                  <a:srgbClr val="94A3B8"/>
                </a:solidFill>
                <a:latin typeface="Inter"/>
              </a:rPr>
              <a:t>Organized into flexible collections containing independent documents.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3225" y="3932132"/>
            <a:ext cx="45434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 dirty="0">
                <a:solidFill>
                  <a:srgbClr val="94A3B8"/>
                </a:solidFill>
                <a:latin typeface="Inter"/>
              </a:rPr>
              <a:t>Used when application structure or incoming schema is unclear or evolving.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3225" y="4348776"/>
            <a:ext cx="4543425" cy="403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 dirty="0">
                <a:solidFill>
                  <a:srgbClr val="94A3B8"/>
                </a:solidFill>
                <a:latin typeface="Inter"/>
              </a:rPr>
              <a:t>Documents can contain unique fields without affecting peer records.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3225" y="4742371"/>
            <a:ext cx="4543425" cy="197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 dirty="0">
                <a:solidFill>
                  <a:srgbClr val="94A3B8"/>
                </a:solidFill>
                <a:latin typeface="Inter"/>
              </a:rPr>
              <a:t>Popular Industry Examples: MongoDB, AWS DynamoDB.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350" y="3538537"/>
            <a:ext cx="133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1" i="0" u="none">
                <a:solidFill>
                  <a:srgbClr val="00ED64"/>
                </a:solidFill>
                <a:latin typeface="Inter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50" y="3833812"/>
            <a:ext cx="133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1" i="0" u="none">
                <a:solidFill>
                  <a:srgbClr val="00ED64"/>
                </a:solidFill>
                <a:latin typeface="Inter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350" y="4329112"/>
            <a:ext cx="133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1" i="0" u="none">
                <a:solidFill>
                  <a:srgbClr val="00ED64"/>
                </a:solidFill>
                <a:latin typeface="Inter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350" y="4624387"/>
            <a:ext cx="133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1" i="0" u="none">
                <a:solidFill>
                  <a:srgbClr val="00ED64"/>
                </a:solidFill>
                <a:latin typeface="Inter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3675" y="3538537"/>
            <a:ext cx="133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1" i="0" u="none">
                <a:solidFill>
                  <a:srgbClr val="00ED64"/>
                </a:solidFill>
                <a:latin typeface="Inter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3675" y="3958095"/>
            <a:ext cx="133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1" i="0" u="none" dirty="0">
                <a:solidFill>
                  <a:srgbClr val="00ED64"/>
                </a:solidFill>
                <a:latin typeface="Inter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9910" y="4383880"/>
            <a:ext cx="133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1" i="0" u="none" dirty="0">
                <a:solidFill>
                  <a:srgbClr val="00ED64"/>
                </a:solidFill>
                <a:latin typeface="Inter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3150" y="4740221"/>
            <a:ext cx="133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1" i="0" u="none" dirty="0">
                <a:solidFill>
                  <a:srgbClr val="00ED64"/>
                </a:solidFill>
                <a:latin typeface="Inter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125" y="542925"/>
            <a:ext cx="1150143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Space Grotesk"/>
              </a:rPr>
              <a:t>Database Storage &amp; Schemas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124" y="952500"/>
            <a:ext cx="3943043" cy="45719"/>
          </a:xfrm>
          <a:prstGeom prst="roundRect">
            <a:avLst>
              <a:gd name="adj" fmla="val 33333"/>
            </a:avLst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9125" y="619125"/>
            <a:ext cx="5110638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Space Grotesk"/>
              </a:rPr>
              <a:t>What is MongoDB?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525"/>
            <a:ext cx="6086475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9124" y="1028700"/>
            <a:ext cx="2428875" cy="45719"/>
          </a:xfrm>
          <a:prstGeom prst="roundRect">
            <a:avLst>
              <a:gd name="adj" fmla="val 33333"/>
            </a:avLst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9124" y="2441971"/>
            <a:ext cx="511063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 dirty="0">
                <a:solidFill>
                  <a:srgbClr val="00ED64"/>
                </a:solidFill>
                <a:latin typeface="Space Grotesk"/>
              </a:rPr>
              <a:t>A </a:t>
            </a:r>
            <a:r>
              <a:rPr sz="2000" b="1" i="0" u="none" dirty="0">
                <a:solidFill>
                  <a:srgbClr val="00ED64"/>
                </a:solidFill>
                <a:latin typeface="Space Grotesk"/>
              </a:rPr>
              <a:t>Document-Oriented</a:t>
            </a:r>
            <a:r>
              <a:rPr sz="1950" b="1" i="0" u="none" dirty="0">
                <a:solidFill>
                  <a:srgbClr val="00ED64"/>
                </a:solidFill>
                <a:latin typeface="Space Grotesk"/>
              </a:rPr>
              <a:t>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" y="2946798"/>
            <a:ext cx="4867275" cy="664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MongoDB is an open-source, distributed NoSQL database engine designed to store, query, and process modern application data at massive 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361" y="3839082"/>
            <a:ext cx="4867275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Instead of locking data into strict tabular constraints, it maps directly to native objects in languages like JavaScript, Python, and Java.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84" y="1017638"/>
            <a:ext cx="3498800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084" y="1017638"/>
            <a:ext cx="3498800" cy="2286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7484" y="1017638"/>
            <a:ext cx="3498949" cy="2286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759" y="1274813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1759" y="1903463"/>
            <a:ext cx="321368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Space Grotesk"/>
              </a:rPr>
              <a:t>1.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759" y="2246363"/>
            <a:ext cx="3060650" cy="8134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>
                <a:solidFill>
                  <a:srgbClr val="94A3B8"/>
                </a:solidFill>
                <a:latin typeface="Inter"/>
              </a:rPr>
              <a:t>The top-level container holding all related collections. A single MongoDB cluster can host dozens of isolated databases for separate projects.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9159" y="1274813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89159" y="1903463"/>
            <a:ext cx="321368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Space Grotesk"/>
              </a:rPr>
              <a:t>2.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159" y="2246363"/>
            <a:ext cx="3060650" cy="8134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>
                <a:solidFill>
                  <a:srgbClr val="94A3B8"/>
                </a:solidFill>
                <a:latin typeface="Inter"/>
              </a:rPr>
              <a:t>A named group of MongoDB documents, analogous to a table in SQL. Collections do not enforce a rigid universal schema across all their records.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6559" y="1274813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16559" y="1903463"/>
            <a:ext cx="3213839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Space Grotesk"/>
              </a:rPr>
              <a:t>3. Document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6559" y="2246363"/>
            <a:ext cx="3060799" cy="8134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>
                <a:solidFill>
                  <a:srgbClr val="94A3B8"/>
                </a:solidFill>
                <a:latin typeface="Inter"/>
              </a:rPr>
              <a:t>The individual data record consisting of field-and-value pairs. Stored natively in BSON format with a guaranteed unique _id identifier.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584" y="1398638"/>
            <a:ext cx="209550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8696" y="1398638"/>
            <a:ext cx="238125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4197" y="1398638"/>
            <a:ext cx="161925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9125" y="252413"/>
            <a:ext cx="1150143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 dirty="0">
                <a:solidFill>
                  <a:srgbClr val="FFFFFF"/>
                </a:solidFill>
                <a:latin typeface="Space Grotesk"/>
              </a:rPr>
              <a:t>The Core Data Hierarchy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124" y="687028"/>
            <a:ext cx="3279725" cy="45719"/>
          </a:xfrm>
          <a:prstGeom prst="roundRect">
            <a:avLst>
              <a:gd name="adj" fmla="val 33333"/>
            </a:avLst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D15F13D-09CE-DF20-B955-7311FB65310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89240" y="3417632"/>
            <a:ext cx="7079226" cy="318795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3" y="706693"/>
            <a:ext cx="10953750" cy="344805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863423"/>
              </p:ext>
            </p:extLst>
          </p:nvPr>
        </p:nvGraphicFramePr>
        <p:xfrm>
          <a:off x="609598" y="716218"/>
          <a:ext cx="10934699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2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5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chemeClr val="bg1"/>
                          </a:solidFill>
                          <a:latin typeface="Space Grotesk SemiBold"/>
                        </a:rPr>
                        <a:t>Relational Database (SQL)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ED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chemeClr val="bg1"/>
                          </a:solidFill>
                          <a:latin typeface="Space Grotesk SemiBold"/>
                        </a:rPr>
                        <a:t>MongoDB (NoSQL)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ED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chemeClr val="bg1"/>
                          </a:solidFill>
                          <a:latin typeface="Space Grotesk SemiBold"/>
                        </a:rPr>
                        <a:t>Core Conceptual 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E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Database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Database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E2E8F0"/>
                          </a:solidFill>
                          <a:latin typeface="Inter"/>
                        </a:rPr>
                        <a:t>Container for organizational schemas and storage.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Table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Collection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E2E8F0"/>
                          </a:solidFill>
                          <a:latin typeface="Inter"/>
                        </a:rPr>
                        <a:t>Group of related entity records sharing domain logic.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Row / Record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Document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E2E8F0"/>
                          </a:solidFill>
                          <a:latin typeface="Inter"/>
                        </a:rPr>
                        <a:t>Single item entry stored as key-value pairs.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Column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Field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E2E8F0"/>
                          </a:solidFill>
                          <a:latin typeface="Inter"/>
                        </a:rPr>
                        <a:t>Specific data attribute name inside an entry.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Primary Key (PK)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_id (ObjectId)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E2E8F0"/>
                          </a:solidFill>
                          <a:latin typeface="Inter"/>
                        </a:rPr>
                        <a:t>Guaranteed unique index identifying the record.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8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JOIN Query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$lookup / Embedded Docs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E2E8F0"/>
                          </a:solidFill>
                          <a:latin typeface="Inter"/>
                        </a:rPr>
                        <a:t>Associating data between related business concepts.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09598" y="1225806"/>
            <a:ext cx="2992338" cy="9525"/>
          </a:xfrm>
          <a:prstGeom prst="rect">
            <a:avLst/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01936" y="1225806"/>
            <a:ext cx="3017192" cy="9525"/>
          </a:xfrm>
          <a:prstGeom prst="rect">
            <a:avLst/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19128" y="1225806"/>
            <a:ext cx="4925169" cy="9525"/>
          </a:xfrm>
          <a:prstGeom prst="rect">
            <a:avLst/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598" y="1711581"/>
            <a:ext cx="299233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01936" y="1711581"/>
            <a:ext cx="301719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19128" y="1711581"/>
            <a:ext cx="49251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598" y="2197356"/>
            <a:ext cx="299233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01936" y="2197356"/>
            <a:ext cx="301719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19128" y="2197356"/>
            <a:ext cx="49251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598" y="2683131"/>
            <a:ext cx="299233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01936" y="2683131"/>
            <a:ext cx="301719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19128" y="2683131"/>
            <a:ext cx="49251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598" y="3168906"/>
            <a:ext cx="299233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01936" y="3168906"/>
            <a:ext cx="301719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19128" y="3168906"/>
            <a:ext cx="49251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9598" y="3654681"/>
            <a:ext cx="299233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01936" y="3654681"/>
            <a:ext cx="301719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619128" y="3654681"/>
            <a:ext cx="49251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9125" y="73896"/>
            <a:ext cx="1150143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 dirty="0">
                <a:solidFill>
                  <a:srgbClr val="FFFFFF"/>
                </a:solidFill>
                <a:latin typeface="Space Grotesk"/>
              </a:rPr>
              <a:t>SQL to MongoDB Terminology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125" y="529714"/>
            <a:ext cx="3933210" cy="45719"/>
          </a:xfrm>
          <a:prstGeom prst="roundRect">
            <a:avLst>
              <a:gd name="adj" fmla="val 33333"/>
            </a:avLst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008B6BB-364E-71E1-65C8-10E74F528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010" y="4286003"/>
            <a:ext cx="5274833" cy="24266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719262"/>
            <a:ext cx="5305425" cy="409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4875" y="1719262"/>
            <a:ext cx="50196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300" b="1" i="0" u="none">
                <a:solidFill>
                  <a:srgbClr val="CBD5E1"/>
                </a:solidFill>
                <a:latin typeface="Inter"/>
              </a:rPr>
              <a:t>JSON (JavaScript Object Notation):</a:t>
            </a:r>
            <a:r>
              <a:rPr sz="1300" b="0" i="0" u="none">
                <a:solidFill>
                  <a:srgbClr val="CBD5E1"/>
                </a:solidFill>
                <a:latin typeface="Inter"/>
              </a:rPr>
              <a:t> Human-readable text format widely used for web APIs and client-server transmission.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2300287"/>
            <a:ext cx="50196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300" b="1" i="0" u="none">
                <a:solidFill>
                  <a:srgbClr val="CBD5E1"/>
                </a:solidFill>
                <a:latin typeface="Inter"/>
              </a:rPr>
              <a:t>BSON (Binary JSON):</a:t>
            </a:r>
            <a:r>
              <a:rPr sz="1300" b="0" i="0" u="none">
                <a:solidFill>
                  <a:srgbClr val="CBD5E1"/>
                </a:solidFill>
                <a:latin typeface="Inter"/>
              </a:rPr>
              <a:t> The internal binary-encoded serialization format MongoDB uses on disk and over the wire.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2881312"/>
            <a:ext cx="50196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300" b="1" i="0" u="none">
                <a:solidFill>
                  <a:srgbClr val="CBD5E1"/>
                </a:solidFill>
                <a:latin typeface="Inter"/>
              </a:rPr>
              <a:t>Performance Optimized:</a:t>
            </a:r>
            <a:r>
              <a:rPr sz="1300" b="0" i="0" u="none">
                <a:solidFill>
                  <a:srgbClr val="CBD5E1"/>
                </a:solidFill>
                <a:latin typeface="Inter"/>
              </a:rPr>
              <a:t> BSON enables rapid scanning and indexing by prefixing fields with explicit byte lengths.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3462337"/>
            <a:ext cx="50196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300" b="1" i="0" u="none">
                <a:solidFill>
                  <a:srgbClr val="CBD5E1"/>
                </a:solidFill>
                <a:latin typeface="Inter"/>
              </a:rPr>
              <a:t>Extended Data Types:</a:t>
            </a:r>
            <a:r>
              <a:rPr sz="1300" b="0" i="0" u="none">
                <a:solidFill>
                  <a:srgbClr val="CBD5E1"/>
                </a:solidFill>
                <a:latin typeface="Inter"/>
              </a:rPr>
              <a:t> Supports types JSON lacks, including Date, Int32, Int64, and binary ObjectId.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975" y="2280344"/>
            <a:ext cx="5286375" cy="297358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1747837"/>
            <a:ext cx="200025" cy="1619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2328862"/>
            <a:ext cx="161925" cy="1619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2909887"/>
            <a:ext cx="142875" cy="1619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3490912"/>
            <a:ext cx="161925" cy="1619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9125" y="542925"/>
            <a:ext cx="1150143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Space Grotesk"/>
              </a:rPr>
              <a:t>Understanding JSON and BSON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124" y="952500"/>
            <a:ext cx="4169185" cy="45719"/>
          </a:xfrm>
          <a:prstGeom prst="roundRect">
            <a:avLst>
              <a:gd name="adj" fmla="val 33333"/>
            </a:avLst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107406"/>
            <a:ext cx="5305425" cy="33194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107406"/>
            <a:ext cx="5305425" cy="33194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675" y="3064668"/>
            <a:ext cx="4752975" cy="2124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34380" y="2345531"/>
            <a:ext cx="4634641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75" b="1" i="0" u="none">
                <a:solidFill>
                  <a:srgbClr val="00ED64"/>
                </a:solidFill>
                <a:latin typeface="Space Grotesk"/>
              </a:rPr>
              <a:t>What is Mongoose?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2717006"/>
            <a:ext cx="47529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300" b="0" i="0" u="none">
                <a:solidFill>
                  <a:srgbClr val="CBD5E1"/>
                </a:solidFill>
                <a:latin typeface="Inter"/>
              </a:rPr>
              <a:t>A Node.js driver and Object Data Modeling (ODM) library that brings structure when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82705" y="2345531"/>
            <a:ext cx="4634641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75" b="1" i="0" u="none">
                <a:solidFill>
                  <a:srgbClr val="00ED64"/>
                </a:solidFill>
                <a:latin typeface="Space Grotesk"/>
              </a:rPr>
              <a:t>Example User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3675" y="2717006"/>
            <a:ext cx="47529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Defining document attributes and expected data types in code: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2374106"/>
            <a:ext cx="24378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900" y="3278981"/>
            <a:ext cx="4543425" cy="403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>
                <a:solidFill>
                  <a:srgbClr val="94A3B8"/>
                </a:solidFill>
                <a:latin typeface="Inter"/>
              </a:rPr>
              <a:t>Acts as a bridge connecting your Node/Express backend to MongoDB.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3662744"/>
            <a:ext cx="4543425" cy="403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 dirty="0">
                <a:solidFill>
                  <a:srgbClr val="94A3B8"/>
                </a:solidFill>
                <a:latin typeface="Inter"/>
              </a:rPr>
              <a:t>Allows developers to define strict schemas and validation rules in code.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4056339"/>
            <a:ext cx="45434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 dirty="0">
                <a:solidFill>
                  <a:srgbClr val="94A3B8"/>
                </a:solidFill>
                <a:latin typeface="Inter"/>
              </a:rPr>
              <a:t>Translates JavaScript objects into persisted MongoDB documents automatically.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" y="4463156"/>
            <a:ext cx="45434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 dirty="0">
                <a:solidFill>
                  <a:srgbClr val="94A3B8"/>
                </a:solidFill>
                <a:latin typeface="Inter"/>
              </a:rPr>
              <a:t>Supports built-in data type casting, middleware hooks, and custom methods.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2374106"/>
            <a:ext cx="243780" cy="2000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43700" y="3436143"/>
            <a:ext cx="3200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1" u="none">
                <a:solidFill>
                  <a:srgbClr val="64748B"/>
                </a:solidFill>
                <a:latin typeface="JetBrains Mono"/>
              </a:rPr>
              <a:t>// Example Mongoose Schema for User 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0300" y="3436143"/>
            <a:ext cx="381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 SemiBold"/>
              </a:rPr>
              <a:t>const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96100" y="3636168"/>
            <a:ext cx="533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 SemiBold"/>
              </a:rPr>
              <a:t>require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5700" y="3636168"/>
            <a:ext cx="762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DE047"/>
                </a:solidFill>
                <a:latin typeface="JetBrains Mono"/>
              </a:rPr>
              <a:t>'mongoose'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6300" y="3636168"/>
            <a:ext cx="381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 SemiBold"/>
              </a:rPr>
              <a:t>const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4100" y="3636168"/>
            <a:ext cx="228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 SemiBold"/>
              </a:rPr>
              <a:t>new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5300" y="3836193"/>
            <a:ext cx="685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 SemiBold"/>
              </a:rPr>
              <a:t>firstName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5900" y="3836193"/>
            <a:ext cx="304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 SemiBold"/>
              </a:rPr>
              <a:t>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72700" y="3836193"/>
            <a:ext cx="609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 SemiBold"/>
              </a:rPr>
              <a:t>required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3700" y="4036218"/>
            <a:ext cx="304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 SemiBold"/>
              </a:rPr>
              <a:t>true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3300" y="4036218"/>
            <a:ext cx="609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 SemiBold"/>
              </a:rPr>
              <a:t>lastName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7700" y="4036218"/>
            <a:ext cx="304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 SemiBold"/>
              </a:rPr>
              <a:t>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4500" y="4036218"/>
            <a:ext cx="609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 SemiBold"/>
              </a:rPr>
              <a:t>required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96500" y="4036218"/>
            <a:ext cx="304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 SemiBold"/>
              </a:rPr>
              <a:t>true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3700" y="4236243"/>
            <a:ext cx="381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 SemiBold"/>
              </a:rPr>
              <a:t>email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9500" y="4236243"/>
            <a:ext cx="304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 SemiBold"/>
              </a:rPr>
              <a:t>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96300" y="4236243"/>
            <a:ext cx="609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 SemiBold"/>
              </a:rPr>
              <a:t>required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8300" y="4236243"/>
            <a:ext cx="304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 SemiBold"/>
              </a:rPr>
              <a:t>true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67900" y="4236243"/>
            <a:ext cx="838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 SemiBold"/>
              </a:rPr>
              <a:t>phoneNumber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3700" y="4436268"/>
            <a:ext cx="304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 SemiBold"/>
              </a:rPr>
              <a:t>type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0500" y="4436268"/>
            <a:ext cx="609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 SemiBold"/>
              </a:rPr>
              <a:t>required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2500" y="4436268"/>
            <a:ext cx="304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 SemiBold"/>
              </a:rPr>
              <a:t>true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0700" y="4436268"/>
            <a:ext cx="1066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 SemiBold"/>
              </a:rPr>
              <a:t>module.exports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6700" y="4636293"/>
            <a:ext cx="457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DE047"/>
                </a:solidFill>
                <a:latin typeface="JetBrains Mono"/>
              </a:rPr>
              <a:t>'User'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5350" y="3278981"/>
            <a:ext cx="133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1" i="0" u="none">
                <a:solidFill>
                  <a:srgbClr val="00ED64"/>
                </a:solidFill>
                <a:latin typeface="Inter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5350" y="3682040"/>
            <a:ext cx="133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1" i="0" u="none" dirty="0">
                <a:solidFill>
                  <a:srgbClr val="00ED64"/>
                </a:solidFill>
                <a:latin typeface="Inter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5350" y="4065803"/>
            <a:ext cx="133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1" i="0" u="none" dirty="0">
                <a:solidFill>
                  <a:srgbClr val="00ED64"/>
                </a:solidFill>
                <a:latin typeface="Inter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5350" y="4449566"/>
            <a:ext cx="133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1" i="0" u="none" dirty="0">
                <a:solidFill>
                  <a:srgbClr val="00ED64"/>
                </a:solidFill>
                <a:latin typeface="Inter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9125" y="542925"/>
            <a:ext cx="1150143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Space Grotesk"/>
              </a:rPr>
              <a:t>Mongoose ODM &amp; Schemas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9125" y="952500"/>
            <a:ext cx="3834888" cy="45719"/>
          </a:xfrm>
          <a:prstGeom prst="roundRect">
            <a:avLst>
              <a:gd name="adj" fmla="val 33333"/>
            </a:avLst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624137"/>
            <a:ext cx="3498800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525" y="2624137"/>
            <a:ext cx="3498800" cy="2286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3925" y="2624137"/>
            <a:ext cx="3498949" cy="2286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881312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8200" y="3509962"/>
            <a:ext cx="321368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FFFFFF"/>
                </a:solidFill>
                <a:latin typeface="Space Grotesk"/>
              </a:rPr>
              <a:t>mongosh</a:t>
            </a:r>
            <a:endParaRPr sz="1500" b="1" i="0" u="none" dirty="0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8200" y="3852862"/>
            <a:ext cx="30606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The official interactive JavaScript command-line interface. Used by developers to inspect collections, test queries, and run database administrative tasks.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5600" y="2881312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5600" y="3509962"/>
            <a:ext cx="321368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FFFFF"/>
                </a:solidFill>
                <a:latin typeface="Space Grotesk"/>
              </a:rPr>
              <a:t>MongoDB Compass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5600" y="3852862"/>
            <a:ext cx="30606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The interactive GUI desktop client. Explore visual schemas, analyze query performance, build aggregation pipelines, and manage indexes with zero code.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3000" y="2881312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93000" y="3509962"/>
            <a:ext cx="3213839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FFFFF"/>
                </a:solidFill>
                <a:latin typeface="Space Grotesk"/>
              </a:rPr>
              <a:t>MongoDB Atlas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000" y="3852862"/>
            <a:ext cx="3060799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Fully managed multi-cloud database service. Offers a free shared cluster tier (M0) that deploys in seconds across AWS, Google Cloud, or Azure.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737" y="3005137"/>
            <a:ext cx="238125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9425" y="3005137"/>
            <a:ext cx="20955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8250" y="3005137"/>
            <a:ext cx="266700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9125" y="542925"/>
            <a:ext cx="1150143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Space Grotesk"/>
              </a:rPr>
              <a:t>Essential Developer Tooling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125" y="952500"/>
            <a:ext cx="114300" cy="266700"/>
          </a:xfrm>
          <a:prstGeom prst="roundRect">
            <a:avLst>
              <a:gd name="adj" fmla="val 33333"/>
            </a:avLst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19125" y="542925"/>
            <a:ext cx="1150143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Space Grotesk"/>
              </a:rPr>
              <a:t>CRUD: Create Operations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9125" y="952500"/>
            <a:ext cx="114300" cy="266700"/>
          </a:xfrm>
          <a:prstGeom prst="roundRect">
            <a:avLst>
              <a:gd name="adj" fmla="val 33333"/>
            </a:avLst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C01965-B597-0147-52DE-748F33DB1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1818968"/>
            <a:ext cx="4744562" cy="348061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909D870D-E333-2453-2B0F-B551D7567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1818967"/>
            <a:ext cx="5456903" cy="36281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19125" y="542925"/>
            <a:ext cx="1150143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Space Grotesk"/>
              </a:rPr>
              <a:t>CRUD: Read Operations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124" y="952500"/>
            <a:ext cx="3107301" cy="45719"/>
          </a:xfrm>
          <a:prstGeom prst="roundRect">
            <a:avLst>
              <a:gd name="adj" fmla="val 33333"/>
            </a:avLst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D77D4BF-599A-34A0-A92D-961946D35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10" y="1495426"/>
            <a:ext cx="10314038" cy="40991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19125" y="542925"/>
            <a:ext cx="1150143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Space Grotesk"/>
              </a:rPr>
              <a:t>CRUD: Update Operations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125" y="952500"/>
            <a:ext cx="114300" cy="266700"/>
          </a:xfrm>
          <a:prstGeom prst="roundRect">
            <a:avLst>
              <a:gd name="adj" fmla="val 33333"/>
            </a:avLst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D7A9EF6-5F6D-8247-99F7-E22FAF59C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06" y="1425677"/>
            <a:ext cx="10559845" cy="42770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19125" y="542925"/>
            <a:ext cx="1150143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Space Grotesk"/>
              </a:rPr>
              <a:t>CRUD: Delete Operations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125" y="952500"/>
            <a:ext cx="114300" cy="266700"/>
          </a:xfrm>
          <a:prstGeom prst="roundRect">
            <a:avLst>
              <a:gd name="adj" fmla="val 33333"/>
            </a:avLst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D2A2FB6-5612-4E4E-286A-DDEA26AA5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14" y="1980997"/>
            <a:ext cx="10992464" cy="433407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3731418"/>
            <a:ext cx="10953750" cy="14525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8550" y="1674018"/>
            <a:ext cx="157475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19784" y="2035968"/>
            <a:ext cx="6952431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FFFFF"/>
                </a:solidFill>
                <a:latin typeface="Space Grotesk"/>
              </a:rPr>
              <a:t>Ready for </a:t>
            </a:r>
            <a:r>
              <a:rPr sz="4200" b="1" i="0" u="none">
                <a:solidFill>
                  <a:srgbClr val="00ED64"/>
                </a:solidFill>
                <a:latin typeface="Space Grotesk"/>
              </a:rPr>
              <a:t>Hands-on Code</a:t>
            </a:r>
            <a:r>
              <a:rPr sz="4200" b="1" i="0" u="none">
                <a:solidFill>
                  <a:srgbClr val="FFFFFF"/>
                </a:solidFill>
                <a:latin typeface="Space Grotesk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0375" y="2883693"/>
            <a:ext cx="61912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sz="1425" b="0" i="0" u="none">
                <a:solidFill>
                  <a:srgbClr val="94A3B8"/>
                </a:solidFill>
                <a:latin typeface="Inter"/>
              </a:rPr>
              <a:t>Open your terminals, fire up mongosh or MongoDB Compass, and try creating your own school or store database today!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450" y="3931443"/>
            <a:ext cx="3387476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D64"/>
                </a:solidFill>
                <a:latin typeface="Space Grotesk"/>
              </a:rPr>
              <a:t>Challenge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4169568"/>
            <a:ext cx="3387476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94A3B8"/>
                </a:solidFill>
                <a:latin typeface="Inter"/>
              </a:rPr>
              <a:t>Create a users collection and insert a user with firstName, lastName, and email.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7626" y="3931443"/>
            <a:ext cx="3223914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D64"/>
                </a:solidFill>
                <a:latin typeface="Space Grotesk"/>
              </a:rPr>
              <a:t>Challenge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7626" y="4169568"/>
            <a:ext cx="3223914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94A3B8"/>
                </a:solidFill>
                <a:latin typeface="Inter"/>
              </a:rPr>
              <a:t>Find all students with a GPA greater than 3.5 using the $gte operator.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8241" y="3931443"/>
            <a:ext cx="318015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D64"/>
                </a:solidFill>
                <a:latin typeface="Space Grotesk"/>
              </a:rPr>
              <a:t>Challenge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8241" y="4169568"/>
            <a:ext cx="3180159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94A3B8"/>
                </a:solidFill>
                <a:latin typeface="Inter"/>
              </a:rPr>
              <a:t>Update a user document using the atomic $set and $inc operators.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87F1B2BD-AEAF-4A71-03DA-494BF052B17D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</TotalTime>
  <Words>1030</Words>
  <Application>Microsoft Office PowerPoint</Application>
  <PresentationFormat>Widescreen</PresentationFormat>
  <Paragraphs>145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Inter</vt:lpstr>
      <vt:lpstr>JetBrains Mono</vt:lpstr>
      <vt:lpstr>JetBrains Mono SemiBold</vt:lpstr>
      <vt:lpstr>Space Grotesk</vt:lpstr>
      <vt:lpstr>Space Grotesk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danish.smart.dev@gmail.com</cp:lastModifiedBy>
  <cp:revision>7</cp:revision>
  <dcterms:created xsi:type="dcterms:W3CDTF">2013-01-27T09:14:16Z</dcterms:created>
  <dcterms:modified xsi:type="dcterms:W3CDTF">2026-09-18T03:33:13Z</dcterms:modified>
  <cp:category/>
</cp:coreProperties>
</file>